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85800"/>
            <a:ext cx="2148840" cy="38404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 minute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0876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"/>
              </a:defRPr>
            </a:pPr>
            <a:r>
              <a:t>Glitch Museum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42032"/>
            <a:ext cx="95097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B8A6"/>
                </a:solidFill>
                <a:latin typeface="Aptos"/>
              </a:defRPr>
            </a:pPr>
            <a:r>
              <a:t>Turning old AI-generated bugs into evidence-backed exhibits.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859536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F1F5F9"/>
                </a:solidFill>
                <a:latin typeface="Aptos"/>
              </a:defRPr>
            </a:pPr>
            <a:r>
              <a:t>A Streamlit guessing game plus a local RAG guide that explains what broke, how it was fixed, and why the tests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97D"/>
                </a:solidFill>
                <a:latin typeface="Aptos"/>
              </a:defRPr>
            </a:pPr>
            <a:r>
              <a:t>Peer presentation focus: favorite parts, not every grading requirement.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93B"/>
                </a:solidFill>
                <a:latin typeface="Aptos"/>
              </a:defRPr>
            </a:pPr>
            <a:r>
              <a:t>Favorite Part: Bugs Became Exhibits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60704"/>
            <a:ext cx="10149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B697D"/>
                </a:solidFill>
                <a:latin typeface="Aptos"/>
              </a:defRPr>
            </a:pPr>
            <a:r>
              <a:t>The RAG guide explains the project's debugging history with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2514600" cy="38404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Demo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4754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1F2E"/>
                </a:solidFill>
                <a:latin typeface="Aptos"/>
              </a:defRPr>
            </a:pPr>
            <a:r>
              <a:t>Shapeshifting Secret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874519"/>
            <a:ext cx="53492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1E293B"/>
                </a:solidFill>
                <a:latin typeface="Aptos"/>
              </a:defRPr>
            </a:pPr>
            <a:r>
              <a:t>Select the artifact in Glitch Museum Mode.</a:t>
            </a:r>
          </a:p>
          <a:p>
            <a:pPr>
              <a:spcAft>
                <a:spcPts val="1100"/>
              </a:spcAft>
              <a:defRPr sz="2200">
                <a:solidFill>
                  <a:srgbClr val="1E293B"/>
                </a:solidFill>
                <a:latin typeface="Aptos"/>
              </a:defRPr>
            </a:pPr>
            <a:r>
              <a:t>Show the answer generated from retrieved project files.</a:t>
            </a:r>
          </a:p>
          <a:p>
            <a:pPr>
              <a:spcAft>
                <a:spcPts val="1100"/>
              </a:spcAft>
              <a:defRPr sz="2200">
                <a:solidFill>
                  <a:srgbClr val="1E293B"/>
                </a:solidFill>
                <a:latin typeface="Aptos"/>
              </a:defRPr>
            </a:pPr>
            <a:r>
              <a:t>Point out confidence and evidence from reflection/code.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404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ptos"/>
              </a:defRPr>
            </a:pPr>
            <a:r>
              <a:t>Why it matters: the answer is grounded in this project, not generic AI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97D"/>
                </a:solidFill>
                <a:latin typeface="Aptos"/>
              </a:defRPr>
            </a:pPr>
            <a:r>
              <a:t>Suggested live demo: Inspect Artifact -&gt; Shapeshifting Secret Number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93B"/>
                </a:solidFill>
                <a:latin typeface="Aptos"/>
              </a:defRPr>
            </a:pPr>
            <a:r>
              <a:t>Most Responsible Part: It Can Say 'I Don't Know'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60704"/>
            <a:ext cx="10149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B697D"/>
                </a:solidFill>
                <a:latin typeface="Aptos"/>
              </a:defRPr>
            </a:pPr>
            <a:r>
              <a:t>The guardrail is more interesting than a perfect-looking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55648"/>
            <a:ext cx="4297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B697D"/>
                </a:solidFill>
                <a:latin typeface="Aptos"/>
              </a:defRPr>
            </a:pPr>
            <a:r>
              <a:t>Unrelated question: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7168"/>
            <a:ext cx="5212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F2E"/>
                </a:solidFill>
                <a:latin typeface="Aptos"/>
              </a:defRPr>
            </a:pPr>
            <a:r>
              <a:t>Explain database migrations and cloud billing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800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300">
                <a:solidFill>
                  <a:srgbClr val="1E293B"/>
                </a:solidFill>
                <a:latin typeface="Aptos"/>
              </a:defRPr>
            </a:pPr>
            <a:r>
              <a:t>No matching project evidence</a:t>
            </a:r>
          </a:p>
          <a:p>
            <a:pPr>
              <a:spcAft>
                <a:spcPts val="1100"/>
              </a:spcAft>
              <a:defRPr sz="2300">
                <a:solidFill>
                  <a:srgbClr val="1E293B"/>
                </a:solidFill>
                <a:latin typeface="Aptos"/>
              </a:defRPr>
            </a:pPr>
            <a:r>
              <a:t>Confidence drops to 0.00</a:t>
            </a:r>
          </a:p>
          <a:p>
            <a:pPr>
              <a:spcAft>
                <a:spcPts val="1100"/>
              </a:spcAft>
              <a:defRPr sz="2300">
                <a:solidFill>
                  <a:srgbClr val="1E293B"/>
                </a:solidFill>
                <a:latin typeface="Aptos"/>
              </a:defRPr>
            </a:pPr>
            <a:r>
              <a:t>The guide returns a fallback instead of pretending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97D"/>
                </a:solidFill>
                <a:latin typeface="Aptos"/>
              </a:defRPr>
            </a:pPr>
            <a:r>
              <a:t>Responsible AI moment: low confidence is a feature, not a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789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293B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60704"/>
            <a:ext cx="10149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5B697D"/>
                </a:solidFill>
                <a:latin typeface="Aptos"/>
              </a:defRPr>
            </a:pPr>
            <a:r>
              <a:t>AI engineering is verification, not just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6294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E293B"/>
                </a:solidFill>
                <a:latin typeface="Aptos"/>
              </a:defRPr>
            </a:pPr>
            <a:r>
              <a:t>AI-generated code can run and still be logically wrong.</a:t>
            </a:r>
          </a:p>
          <a:p>
            <a:pPr>
              <a:spcAft>
                <a:spcPts val="1100"/>
              </a:spcAft>
              <a:defRPr sz="2400">
                <a:solidFill>
                  <a:srgbClr val="1E293B"/>
                </a:solidFill>
                <a:latin typeface="Aptos"/>
              </a:defRPr>
            </a:pPr>
            <a:r>
              <a:t>RAG is valuable when evidence shapes the answer.</a:t>
            </a:r>
          </a:p>
          <a:p>
            <a:pPr>
              <a:spcAft>
                <a:spcPts val="1100"/>
              </a:spcAft>
              <a:defRPr sz="2400">
                <a:solidFill>
                  <a:srgbClr val="1E293B"/>
                </a:solidFill>
                <a:latin typeface="Aptos"/>
              </a:defRPr>
            </a:pPr>
            <a:r>
              <a:t>Tests and confidence scoring make demos more trustworthy.</a:t>
            </a:r>
          </a:p>
          <a:p>
            <a:pPr>
              <a:spcAft>
                <a:spcPts val="1100"/>
              </a:spcAft>
              <a:defRPr sz="2400">
                <a:solidFill>
                  <a:srgbClr val="1E293B"/>
                </a:solidFill>
                <a:latin typeface="Aptos"/>
              </a:defRPr>
            </a:pPr>
            <a:r>
              <a:t>Human review still matters when AI suggestions are incomplete.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920240"/>
            <a:ext cx="33832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2E"/>
                </a:solidFill>
                <a:latin typeface="Aptos"/>
              </a:defRPr>
            </a:pPr>
            <a:r>
              <a:t>My takeaway:</a:t>
            </a:r>
            <a:br/>
            <a:r>
              <a:t>Build AI that is useful, testable, and honest about its limits.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5B697D"/>
                </a:solidFill>
                <a:latin typeface="Aptos"/>
              </a:defRPr>
            </a:pPr>
            <a:r>
              <a:t>Leave about one minute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